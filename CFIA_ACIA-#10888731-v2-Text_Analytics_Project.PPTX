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9"/>
  </p:notesMasterIdLst>
  <p:handoutMasterIdLst>
    <p:handoutMasterId r:id="rId20"/>
  </p:handoutMasterIdLst>
  <p:sldIdLst>
    <p:sldId id="256" r:id="rId2"/>
    <p:sldId id="257" r:id="rId3"/>
    <p:sldId id="286" r:id="rId4"/>
    <p:sldId id="259" r:id="rId5"/>
    <p:sldId id="288" r:id="rId6"/>
    <p:sldId id="274" r:id="rId7"/>
    <p:sldId id="275" r:id="rId8"/>
    <p:sldId id="276" r:id="rId9"/>
    <p:sldId id="277" r:id="rId10"/>
    <p:sldId id="280" r:id="rId11"/>
    <p:sldId id="278" r:id="rId12"/>
    <p:sldId id="282" r:id="rId13"/>
    <p:sldId id="283" r:id="rId14"/>
    <p:sldId id="293" r:id="rId15"/>
    <p:sldId id="294" r:id="rId16"/>
    <p:sldId id="289" r:id="rId17"/>
    <p:sldId id="297" r:id="rId18"/>
  </p:sldIdLst>
  <p:sldSz cx="9144000" cy="6858000" type="screen4x3"/>
  <p:notesSz cx="9305925" cy="70199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75488" autoAdjust="0"/>
  </p:normalViewPr>
  <p:slideViewPr>
    <p:cSldViewPr>
      <p:cViewPr>
        <p:scale>
          <a:sx n="60" d="100"/>
          <a:sy n="60" d="100"/>
        </p:scale>
        <p:origin x="-3096" y="-6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032147" cy="350877"/>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5271674" y="1"/>
            <a:ext cx="4032147" cy="350877"/>
          </a:xfrm>
          <a:prstGeom prst="rect">
            <a:avLst/>
          </a:prstGeom>
        </p:spPr>
        <p:txBody>
          <a:bodyPr vert="horz" lIns="91440" tIns="45720" rIns="91440" bIns="45720" rtlCol="0"/>
          <a:lstStyle>
            <a:lvl1pPr algn="r">
              <a:defRPr sz="1200"/>
            </a:lvl1pPr>
          </a:lstStyle>
          <a:p>
            <a:fld id="{DD227799-7602-4C72-8E61-78C4C89C70E6}" type="datetimeFigureOut">
              <a:rPr lang="en-CA" smtClean="0"/>
              <a:t>20/09/2018</a:t>
            </a:fld>
            <a:endParaRPr lang="en-CA"/>
          </a:p>
        </p:txBody>
      </p:sp>
      <p:sp>
        <p:nvSpPr>
          <p:cNvPr id="4" name="Footer Placeholder 3"/>
          <p:cNvSpPr>
            <a:spLocks noGrp="1"/>
          </p:cNvSpPr>
          <p:nvPr>
            <p:ph type="ftr" sz="quarter" idx="2"/>
          </p:nvPr>
        </p:nvSpPr>
        <p:spPr>
          <a:xfrm>
            <a:off x="1" y="6667852"/>
            <a:ext cx="4032147" cy="35087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5271674" y="6667852"/>
            <a:ext cx="4032147" cy="350877"/>
          </a:xfrm>
          <a:prstGeom prst="rect">
            <a:avLst/>
          </a:prstGeom>
        </p:spPr>
        <p:txBody>
          <a:bodyPr vert="horz" lIns="91440" tIns="45720" rIns="91440" bIns="45720" rtlCol="0" anchor="b"/>
          <a:lstStyle>
            <a:lvl1pPr algn="r">
              <a:defRPr sz="1200"/>
            </a:lvl1pPr>
          </a:lstStyle>
          <a:p>
            <a:fld id="{9FCE0E45-222F-483F-B3AC-AF1D5EBE987F}" type="slidenum">
              <a:rPr lang="en-CA" smtClean="0"/>
              <a:t>‹#›</a:t>
            </a:fld>
            <a:endParaRPr lang="en-CA"/>
          </a:p>
        </p:txBody>
      </p:sp>
    </p:spTree>
    <p:extLst>
      <p:ext uri="{BB962C8B-B14F-4D97-AF65-F5344CB8AC3E}">
        <p14:creationId xmlns:p14="http://schemas.microsoft.com/office/powerpoint/2010/main" val="85513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2568" cy="350996"/>
          </a:xfrm>
          <a:prstGeom prst="rect">
            <a:avLst/>
          </a:prstGeom>
        </p:spPr>
        <p:txBody>
          <a:bodyPr vert="horz" lIns="93287" tIns="46644" rIns="93287" bIns="46644" rtlCol="0"/>
          <a:lstStyle>
            <a:lvl1pPr algn="l">
              <a:defRPr sz="1200"/>
            </a:lvl1pPr>
          </a:lstStyle>
          <a:p>
            <a:endParaRPr lang="en-CA"/>
          </a:p>
        </p:txBody>
      </p:sp>
      <p:sp>
        <p:nvSpPr>
          <p:cNvPr id="3" name="Date Placeholder 2"/>
          <p:cNvSpPr>
            <a:spLocks noGrp="1"/>
          </p:cNvSpPr>
          <p:nvPr>
            <p:ph type="dt" idx="1"/>
          </p:nvPr>
        </p:nvSpPr>
        <p:spPr>
          <a:xfrm>
            <a:off x="5271204" y="0"/>
            <a:ext cx="4032568" cy="350996"/>
          </a:xfrm>
          <a:prstGeom prst="rect">
            <a:avLst/>
          </a:prstGeom>
        </p:spPr>
        <p:txBody>
          <a:bodyPr vert="horz" lIns="93287" tIns="46644" rIns="93287" bIns="46644" rtlCol="0"/>
          <a:lstStyle>
            <a:lvl1pPr algn="r">
              <a:defRPr sz="1200"/>
            </a:lvl1pPr>
          </a:lstStyle>
          <a:p>
            <a:fld id="{4CA69F62-4503-464F-B599-221DC5203A96}" type="datetimeFigureOut">
              <a:rPr lang="en-CA" smtClean="0"/>
              <a:t>20/09/2018</a:t>
            </a:fld>
            <a:endParaRPr lang="en-CA"/>
          </a:p>
        </p:txBody>
      </p:sp>
      <p:sp>
        <p:nvSpPr>
          <p:cNvPr id="4" name="Slide Image Placeholder 3"/>
          <p:cNvSpPr>
            <a:spLocks noGrp="1" noRot="1" noChangeAspect="1"/>
          </p:cNvSpPr>
          <p:nvPr>
            <p:ph type="sldImg" idx="2"/>
          </p:nvPr>
        </p:nvSpPr>
        <p:spPr>
          <a:xfrm>
            <a:off x="2898775" y="527050"/>
            <a:ext cx="3508375" cy="2632075"/>
          </a:xfrm>
          <a:prstGeom prst="rect">
            <a:avLst/>
          </a:prstGeom>
          <a:noFill/>
          <a:ln w="12700">
            <a:solidFill>
              <a:prstClr val="black"/>
            </a:solidFill>
          </a:ln>
        </p:spPr>
        <p:txBody>
          <a:bodyPr vert="horz" lIns="93287" tIns="46644" rIns="93287" bIns="46644" rtlCol="0" anchor="ctr"/>
          <a:lstStyle/>
          <a:p>
            <a:endParaRPr lang="en-CA"/>
          </a:p>
        </p:txBody>
      </p:sp>
      <p:sp>
        <p:nvSpPr>
          <p:cNvPr id="5" name="Notes Placeholder 4"/>
          <p:cNvSpPr>
            <a:spLocks noGrp="1"/>
          </p:cNvSpPr>
          <p:nvPr>
            <p:ph type="body" sz="quarter" idx="3"/>
          </p:nvPr>
        </p:nvSpPr>
        <p:spPr>
          <a:xfrm>
            <a:off x="930593" y="3334465"/>
            <a:ext cx="7444740" cy="3158966"/>
          </a:xfrm>
          <a:prstGeom prst="rect">
            <a:avLst/>
          </a:prstGeom>
        </p:spPr>
        <p:txBody>
          <a:bodyPr vert="horz" lIns="93287" tIns="46644" rIns="93287" bIns="46644"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6667711"/>
            <a:ext cx="4032568" cy="350996"/>
          </a:xfrm>
          <a:prstGeom prst="rect">
            <a:avLst/>
          </a:prstGeom>
        </p:spPr>
        <p:txBody>
          <a:bodyPr vert="horz" lIns="93287" tIns="46644" rIns="93287" bIns="46644" rtlCol="0" anchor="b"/>
          <a:lstStyle>
            <a:lvl1pPr algn="l">
              <a:defRPr sz="1200"/>
            </a:lvl1pPr>
          </a:lstStyle>
          <a:p>
            <a:endParaRPr lang="en-CA"/>
          </a:p>
        </p:txBody>
      </p:sp>
      <p:sp>
        <p:nvSpPr>
          <p:cNvPr id="7" name="Slide Number Placeholder 6"/>
          <p:cNvSpPr>
            <a:spLocks noGrp="1"/>
          </p:cNvSpPr>
          <p:nvPr>
            <p:ph type="sldNum" sz="quarter" idx="5"/>
          </p:nvPr>
        </p:nvSpPr>
        <p:spPr>
          <a:xfrm>
            <a:off x="5271204" y="6667711"/>
            <a:ext cx="4032568" cy="350996"/>
          </a:xfrm>
          <a:prstGeom prst="rect">
            <a:avLst/>
          </a:prstGeom>
        </p:spPr>
        <p:txBody>
          <a:bodyPr vert="horz" lIns="93287" tIns="46644" rIns="93287" bIns="46644" rtlCol="0" anchor="b"/>
          <a:lstStyle>
            <a:lvl1pPr algn="r">
              <a:defRPr sz="1200"/>
            </a:lvl1pPr>
          </a:lstStyle>
          <a:p>
            <a:fld id="{D51FE13C-0729-468B-8FC8-2C10E2E8F9EA}" type="slidenum">
              <a:rPr lang="en-CA" smtClean="0"/>
              <a:t>‹#›</a:t>
            </a:fld>
            <a:endParaRPr lang="en-CA"/>
          </a:p>
        </p:txBody>
      </p:sp>
    </p:spTree>
    <p:extLst>
      <p:ext uri="{BB962C8B-B14F-4D97-AF65-F5344CB8AC3E}">
        <p14:creationId xmlns:p14="http://schemas.microsoft.com/office/powerpoint/2010/main" val="3162684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51FE13C-0729-468B-8FC8-2C10E2E8F9EA}" type="slidenum">
              <a:rPr lang="en-CA" smtClean="0"/>
              <a:t>1</a:t>
            </a:fld>
            <a:endParaRPr lang="en-CA"/>
          </a:p>
        </p:txBody>
      </p:sp>
    </p:spTree>
    <p:extLst>
      <p:ext uri="{BB962C8B-B14F-4D97-AF65-F5344CB8AC3E}">
        <p14:creationId xmlns:p14="http://schemas.microsoft.com/office/powerpoint/2010/main" val="1858843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2</a:t>
            </a:fld>
            <a:endParaRPr lang="en-CA"/>
          </a:p>
        </p:txBody>
      </p:sp>
    </p:spTree>
    <p:extLst>
      <p:ext uri="{BB962C8B-B14F-4D97-AF65-F5344CB8AC3E}">
        <p14:creationId xmlns:p14="http://schemas.microsoft.com/office/powerpoint/2010/main" val="2584807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Level 1:</a:t>
            </a:r>
            <a:r>
              <a:rPr lang="en-US" baseline="0" dirty="0" smtClean="0"/>
              <a:t> A question about the status of the temporary ban on importing Guatemalan blackberries into Canada. </a:t>
            </a:r>
          </a:p>
          <a:p>
            <a:r>
              <a:rPr lang="en-US" dirty="0" smtClean="0"/>
              <a:t>Level</a:t>
            </a:r>
            <a:r>
              <a:rPr lang="en-US" baseline="0" dirty="0" smtClean="0"/>
              <a:t> 2: A question about import requirements and chemical/biological food safety regulations for abalone (sea snails).</a:t>
            </a:r>
            <a:endParaRPr lang="en-US" dirty="0" smtClean="0"/>
          </a:p>
          <a:p>
            <a:r>
              <a:rPr lang="en-US" dirty="0" smtClean="0"/>
              <a:t>Level 3: A question about comparing results from high performance liquid chromatography-mass </a:t>
            </a:r>
            <a:r>
              <a:rPr lang="en-US" dirty="0" err="1" smtClean="0"/>
              <a:t>spectometry</a:t>
            </a:r>
            <a:r>
              <a:rPr lang="en-US" dirty="0" smtClean="0"/>
              <a:t> in Japan and Canada for compliance</a:t>
            </a:r>
            <a:r>
              <a:rPr lang="en-US" baseline="0" dirty="0" smtClean="0"/>
              <a:t> with </a:t>
            </a:r>
            <a:r>
              <a:rPr lang="en-US" dirty="0" smtClean="0"/>
              <a:t>Aquaculture </a:t>
            </a:r>
            <a:r>
              <a:rPr lang="en-US" dirty="0" err="1" smtClean="0"/>
              <a:t>Therapeutant</a:t>
            </a:r>
            <a:r>
              <a:rPr lang="en-US" dirty="0" smtClean="0"/>
              <a:t> Residue Monitoring List. </a:t>
            </a:r>
          </a:p>
          <a:p>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3</a:t>
            </a:fld>
            <a:endParaRPr lang="en-CA"/>
          </a:p>
        </p:txBody>
      </p:sp>
    </p:spTree>
    <p:extLst>
      <p:ext uri="{BB962C8B-B14F-4D97-AF65-F5344CB8AC3E}">
        <p14:creationId xmlns:p14="http://schemas.microsoft.com/office/powerpoint/2010/main" val="339071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smtClean="0"/>
              <a:t>By predicting</a:t>
            </a:r>
            <a:r>
              <a:rPr lang="en-US" baseline="0" dirty="0" smtClean="0"/>
              <a:t>, we can decrease the amount of manual work required. </a:t>
            </a:r>
          </a:p>
        </p:txBody>
      </p:sp>
      <p:sp>
        <p:nvSpPr>
          <p:cNvPr id="4" name="Slide Number Placeholder 3"/>
          <p:cNvSpPr>
            <a:spLocks noGrp="1"/>
          </p:cNvSpPr>
          <p:nvPr>
            <p:ph type="sldNum" sz="quarter" idx="10"/>
          </p:nvPr>
        </p:nvSpPr>
        <p:spPr/>
        <p:txBody>
          <a:bodyPr/>
          <a:lstStyle/>
          <a:p>
            <a:fld id="{D51FE13C-0729-468B-8FC8-2C10E2E8F9EA}" type="slidenum">
              <a:rPr lang="en-CA" smtClean="0"/>
              <a:t>4</a:t>
            </a:fld>
            <a:endParaRPr lang="en-CA"/>
          </a:p>
        </p:txBody>
      </p:sp>
    </p:spTree>
    <p:extLst>
      <p:ext uri="{BB962C8B-B14F-4D97-AF65-F5344CB8AC3E}">
        <p14:creationId xmlns:p14="http://schemas.microsoft.com/office/powerpoint/2010/main" val="416474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Data</a:t>
            </a:r>
            <a:r>
              <a:rPr lang="en-US" baseline="0" dirty="0" smtClean="0"/>
              <a:t> collected from July 2016 until mid-May 2018 (nearly 2 years)</a:t>
            </a:r>
          </a:p>
          <a:p>
            <a:pPr marL="171450" indent="-171450">
              <a:buFont typeface="Arial" panose="020B0604020202020204" pitchFamily="34" charset="0"/>
              <a:buChar char="•"/>
            </a:pPr>
            <a:r>
              <a:rPr lang="en-US" baseline="0" dirty="0" smtClean="0"/>
              <a:t>Over 2700 questions received, approximately 2000 in English</a:t>
            </a:r>
          </a:p>
          <a:p>
            <a:pPr marL="171450" indent="-171450">
              <a:buFont typeface="Arial" panose="020B0604020202020204" pitchFamily="34" charset="0"/>
              <a:buChar char="•"/>
            </a:pPr>
            <a:r>
              <a:rPr lang="en-US" baseline="0" dirty="0" smtClean="0"/>
              <a:t>English Qs were analyzed for the purpose of the project</a:t>
            </a:r>
          </a:p>
          <a:p>
            <a:pPr marL="171450" indent="-171450">
              <a:buFont typeface="Arial" panose="020B0604020202020204" pitchFamily="34" charset="0"/>
              <a:buChar char="•"/>
            </a:pPr>
            <a:r>
              <a:rPr lang="en-US" baseline="0" dirty="0" smtClean="0"/>
              <a:t>Question asked, response, date received, country of origin of question, manually triaged level, language</a:t>
            </a:r>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5</a:t>
            </a:fld>
            <a:endParaRPr lang="en-CA"/>
          </a:p>
        </p:txBody>
      </p:sp>
    </p:spTree>
    <p:extLst>
      <p:ext uri="{BB962C8B-B14F-4D97-AF65-F5344CB8AC3E}">
        <p14:creationId xmlns:p14="http://schemas.microsoft.com/office/powerpoint/2010/main" val="16399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I chose to</a:t>
            </a:r>
            <a:r>
              <a:rPr lang="en-US" baseline="0" dirty="0" smtClean="0"/>
              <a:t> work with English language questions primarily since they are most common and there were problems reading the way some French language questions are encoded. It’s also reasonable to separate the two when doing text analytics since the natural language won’t be the same. </a:t>
            </a:r>
          </a:p>
          <a:p>
            <a:endParaRPr lang="en-US" baseline="0" dirty="0" smtClean="0"/>
          </a:p>
          <a:p>
            <a:r>
              <a:rPr lang="en-US" baseline="0" dirty="0" smtClean="0"/>
              <a:t>Larger size =&gt; more frequently used</a:t>
            </a:r>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6</a:t>
            </a:fld>
            <a:endParaRPr lang="en-CA"/>
          </a:p>
        </p:txBody>
      </p:sp>
    </p:spTree>
    <p:extLst>
      <p:ext uri="{BB962C8B-B14F-4D97-AF65-F5344CB8AC3E}">
        <p14:creationId xmlns:p14="http://schemas.microsoft.com/office/powerpoint/2010/main" val="1349167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51FE13C-0729-468B-8FC8-2C10E2E8F9EA}" type="slidenum">
              <a:rPr lang="en-CA" smtClean="0"/>
              <a:t>7</a:t>
            </a:fld>
            <a:endParaRPr lang="en-CA"/>
          </a:p>
        </p:txBody>
      </p:sp>
    </p:spTree>
    <p:extLst>
      <p:ext uri="{BB962C8B-B14F-4D97-AF65-F5344CB8AC3E}">
        <p14:creationId xmlns:p14="http://schemas.microsoft.com/office/powerpoint/2010/main" val="2824260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51FE13C-0729-468B-8FC8-2C10E2E8F9EA}" type="slidenum">
              <a:rPr lang="en-CA" smtClean="0"/>
              <a:t>8</a:t>
            </a:fld>
            <a:endParaRPr lang="en-CA"/>
          </a:p>
        </p:txBody>
      </p:sp>
    </p:spTree>
    <p:extLst>
      <p:ext uri="{BB962C8B-B14F-4D97-AF65-F5344CB8AC3E}">
        <p14:creationId xmlns:p14="http://schemas.microsoft.com/office/powerpoint/2010/main" val="1380180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51FE13C-0729-468B-8FC8-2C10E2E8F9EA}" type="slidenum">
              <a:rPr lang="en-CA" smtClean="0"/>
              <a:t>9</a:t>
            </a:fld>
            <a:endParaRPr lang="en-CA"/>
          </a:p>
        </p:txBody>
      </p:sp>
    </p:spTree>
    <p:extLst>
      <p:ext uri="{BB962C8B-B14F-4D97-AF65-F5344CB8AC3E}">
        <p14:creationId xmlns:p14="http://schemas.microsoft.com/office/powerpoint/2010/main" val="3585979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Note: The percentage of Fresh Fruit &amp; Vegetable questions (labelled as “Fruit” on the graph) decreases as the level increases. This indicates that information</a:t>
            </a:r>
            <a:r>
              <a:rPr lang="en-US" baseline="0" dirty="0" smtClean="0"/>
              <a:t> on this commodity</a:t>
            </a:r>
            <a:r>
              <a:rPr lang="en-US" dirty="0" smtClean="0"/>
              <a:t> may</a:t>
            </a:r>
            <a:r>
              <a:rPr lang="en-US" baseline="0" dirty="0" smtClean="0"/>
              <a:t> be</a:t>
            </a:r>
            <a:r>
              <a:rPr lang="en-US" dirty="0" smtClean="0"/>
              <a:t> unclear or inaccessible to fresh fruit &amp; vegetable</a:t>
            </a:r>
            <a:r>
              <a:rPr lang="en-US" baseline="0" dirty="0" smtClean="0"/>
              <a:t> producers</a:t>
            </a:r>
            <a:r>
              <a:rPr lang="en-US" dirty="0" smtClean="0"/>
              <a:t>. </a:t>
            </a:r>
            <a:endParaRPr lang="en-CA" dirty="0" smtClean="0"/>
          </a:p>
          <a:p>
            <a:pPr marL="171450" indent="-171450">
              <a:buFontTx/>
              <a:buChar char="-"/>
            </a:pPr>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10</a:t>
            </a:fld>
            <a:endParaRPr lang="en-CA"/>
          </a:p>
        </p:txBody>
      </p:sp>
    </p:spTree>
    <p:extLst>
      <p:ext uri="{BB962C8B-B14F-4D97-AF65-F5344CB8AC3E}">
        <p14:creationId xmlns:p14="http://schemas.microsoft.com/office/powerpoint/2010/main" val="2982378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higher the level, the higher the word count</a:t>
            </a:r>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11</a:t>
            </a:fld>
            <a:endParaRPr lang="en-CA"/>
          </a:p>
        </p:txBody>
      </p:sp>
    </p:spTree>
    <p:extLst>
      <p:ext uri="{BB962C8B-B14F-4D97-AF65-F5344CB8AC3E}">
        <p14:creationId xmlns:p14="http://schemas.microsoft.com/office/powerpoint/2010/main" val="3385268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Breaking down the level of questions received during each month.</a:t>
            </a:r>
            <a:r>
              <a:rPr lang="en-US" baseline="0" dirty="0" smtClean="0"/>
              <a:t> </a:t>
            </a:r>
          </a:p>
          <a:p>
            <a:r>
              <a:rPr lang="en-US" baseline="0" dirty="0" smtClean="0"/>
              <a:t>- Green is level1, blue is level 2 and red is level 3.</a:t>
            </a:r>
          </a:p>
          <a:p>
            <a:r>
              <a:rPr lang="en-US" baseline="0" dirty="0" smtClean="0"/>
              <a:t>Level 2 questions were always the most common except during September, when Level 1 questions were the most common. </a:t>
            </a:r>
            <a:endParaRPr lang="en-US" dirty="0" smtClean="0"/>
          </a:p>
        </p:txBody>
      </p:sp>
      <p:sp>
        <p:nvSpPr>
          <p:cNvPr id="4" name="Slide Number Placeholder 3"/>
          <p:cNvSpPr>
            <a:spLocks noGrp="1"/>
          </p:cNvSpPr>
          <p:nvPr>
            <p:ph type="sldNum" sz="quarter" idx="10"/>
          </p:nvPr>
        </p:nvSpPr>
        <p:spPr/>
        <p:txBody>
          <a:bodyPr/>
          <a:lstStyle/>
          <a:p>
            <a:fld id="{D51FE13C-0729-468B-8FC8-2C10E2E8F9EA}" type="slidenum">
              <a:rPr lang="en-CA" smtClean="0"/>
              <a:t>12</a:t>
            </a:fld>
            <a:endParaRPr lang="en-CA"/>
          </a:p>
        </p:txBody>
      </p:sp>
    </p:spTree>
    <p:extLst>
      <p:ext uri="{BB962C8B-B14F-4D97-AF65-F5344CB8AC3E}">
        <p14:creationId xmlns:p14="http://schemas.microsoft.com/office/powerpoint/2010/main" val="3161870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Questions originating from outside Canada (“International”) are more likely to be Level 1 questions</a:t>
            </a:r>
            <a:r>
              <a:rPr lang="en-US" baseline="0" dirty="0" smtClean="0"/>
              <a:t> than those that originate from Canada.</a:t>
            </a:r>
            <a:endParaRPr lang="en-CA" dirty="0"/>
          </a:p>
        </p:txBody>
      </p:sp>
      <p:sp>
        <p:nvSpPr>
          <p:cNvPr id="4" name="Slide Number Placeholder 3"/>
          <p:cNvSpPr>
            <a:spLocks noGrp="1"/>
          </p:cNvSpPr>
          <p:nvPr>
            <p:ph type="sldNum" sz="quarter" idx="10"/>
          </p:nvPr>
        </p:nvSpPr>
        <p:spPr/>
        <p:txBody>
          <a:bodyPr/>
          <a:lstStyle/>
          <a:p>
            <a:fld id="{D51FE13C-0729-468B-8FC8-2C10E2E8F9EA}" type="slidenum">
              <a:rPr lang="en-CA" smtClean="0"/>
              <a:t>13</a:t>
            </a:fld>
            <a:endParaRPr lang="en-CA"/>
          </a:p>
        </p:txBody>
      </p:sp>
    </p:spTree>
    <p:extLst>
      <p:ext uri="{BB962C8B-B14F-4D97-AF65-F5344CB8AC3E}">
        <p14:creationId xmlns:p14="http://schemas.microsoft.com/office/powerpoint/2010/main" val="3176292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smtClean="0"/>
              <a:t>Second version: predicts </a:t>
            </a:r>
            <a:r>
              <a:rPr lang="en-US" dirty="0" smtClean="0"/>
              <a:t>whether the information was available</a:t>
            </a:r>
            <a:r>
              <a:rPr lang="en-US" baseline="0" dirty="0" smtClean="0"/>
              <a:t> </a:t>
            </a:r>
            <a:r>
              <a:rPr lang="en-US" dirty="0" smtClean="0"/>
              <a:t>online or not</a:t>
            </a:r>
            <a:endParaRPr lang="en-US" baseline="0" dirty="0" smtClean="0"/>
          </a:p>
          <a:p>
            <a:pPr marL="171450" indent="-171450">
              <a:buFontTx/>
              <a:buChar char="-"/>
            </a:pPr>
            <a:r>
              <a:rPr lang="en-US" sz="1200" kern="1200" dirty="0" smtClean="0">
                <a:solidFill>
                  <a:schemeClr val="tx1"/>
                </a:solidFill>
                <a:effectLst/>
                <a:latin typeface="+mn-lt"/>
                <a:ea typeface="+mn-ea"/>
                <a:cs typeface="+mn-cs"/>
              </a:rPr>
              <a:t>Ensemble:</a:t>
            </a:r>
            <a:r>
              <a:rPr lang="en-US" sz="1200" kern="1200" baseline="0" dirty="0" smtClean="0">
                <a:solidFill>
                  <a:schemeClr val="tx1"/>
                </a:solidFill>
                <a:effectLst/>
                <a:latin typeface="+mn-lt"/>
                <a:ea typeface="+mn-ea"/>
                <a:cs typeface="+mn-cs"/>
              </a:rPr>
              <a:t> combined KNN with SVM using logistic regression. Less false positives (where Level 1 is “positive”) – it is better for a Level 1 question to be labelled as “not” than the other way around.</a:t>
            </a:r>
          </a:p>
          <a:p>
            <a:pPr marL="0" indent="0">
              <a:buFontTx/>
              <a:buNone/>
            </a:pPr>
            <a:endParaRPr lang="en-US" sz="1200" kern="1200" baseline="0" dirty="0" smtClean="0">
              <a:solidFill>
                <a:schemeClr val="tx1"/>
              </a:solidFill>
              <a:effectLst/>
              <a:latin typeface="+mn-lt"/>
              <a:ea typeface="+mn-ea"/>
              <a:cs typeface="+mn-cs"/>
            </a:endParaRPr>
          </a:p>
          <a:p>
            <a:pPr marL="171450" indent="-171450">
              <a:buFontTx/>
              <a:buChar char="-"/>
            </a:pPr>
            <a:r>
              <a:rPr lang="en-US" sz="1200" kern="1200" baseline="0" dirty="0" smtClean="0">
                <a:solidFill>
                  <a:schemeClr val="tx1"/>
                </a:solidFill>
                <a:effectLst/>
                <a:latin typeface="+mn-lt"/>
                <a:ea typeface="+mn-ea"/>
                <a:cs typeface="+mn-cs"/>
              </a:rPr>
              <a:t>KNN takes the distance between two entries (e.g. a document that mentions the word </a:t>
            </a:r>
            <a:r>
              <a:rPr lang="en-US" sz="1200" b="1" kern="1200" baseline="0" dirty="0" smtClean="0">
                <a:solidFill>
                  <a:schemeClr val="tx1"/>
                </a:solidFill>
                <a:effectLst/>
                <a:latin typeface="+mn-lt"/>
                <a:ea typeface="+mn-ea"/>
                <a:cs typeface="+mn-cs"/>
              </a:rPr>
              <a:t>fish</a:t>
            </a:r>
            <a:r>
              <a:rPr lang="en-US" sz="1200" kern="1200" baseline="0" dirty="0" smtClean="0">
                <a:solidFill>
                  <a:schemeClr val="tx1"/>
                </a:solidFill>
                <a:effectLst/>
                <a:latin typeface="+mn-lt"/>
                <a:ea typeface="+mn-ea"/>
                <a:cs typeface="+mn-cs"/>
              </a:rPr>
              <a:t> 12 times is “closer” to one that mentions </a:t>
            </a:r>
            <a:r>
              <a:rPr lang="en-US" sz="1200" b="1" kern="1200" baseline="0" dirty="0" smtClean="0">
                <a:solidFill>
                  <a:schemeClr val="tx1"/>
                </a:solidFill>
                <a:effectLst/>
                <a:latin typeface="+mn-lt"/>
                <a:ea typeface="+mn-ea"/>
                <a:cs typeface="+mn-cs"/>
              </a:rPr>
              <a:t>fish </a:t>
            </a:r>
            <a:r>
              <a:rPr lang="en-US" sz="1200" b="0" kern="1200" baseline="0" dirty="0" smtClean="0">
                <a:solidFill>
                  <a:schemeClr val="tx1"/>
                </a:solidFill>
                <a:effectLst/>
                <a:latin typeface="+mn-lt"/>
                <a:ea typeface="+mn-ea"/>
                <a:cs typeface="+mn-cs"/>
              </a:rPr>
              <a:t> 8 times than one that mentions </a:t>
            </a:r>
            <a:r>
              <a:rPr lang="en-US" sz="1200" b="1" kern="1200" baseline="0" dirty="0" smtClean="0">
                <a:solidFill>
                  <a:schemeClr val="tx1"/>
                </a:solidFill>
                <a:effectLst/>
                <a:latin typeface="+mn-lt"/>
                <a:ea typeface="+mn-ea"/>
                <a:cs typeface="+mn-cs"/>
              </a:rPr>
              <a:t>fish</a:t>
            </a:r>
            <a:r>
              <a:rPr lang="en-US" sz="1200" b="0" kern="1200" baseline="0" dirty="0" smtClean="0">
                <a:solidFill>
                  <a:schemeClr val="tx1"/>
                </a:solidFill>
                <a:effectLst/>
                <a:latin typeface="+mn-lt"/>
                <a:ea typeface="+mn-ea"/>
                <a:cs typeface="+mn-cs"/>
              </a:rPr>
              <a:t> 3 times). The k refers to how many “</a:t>
            </a:r>
            <a:r>
              <a:rPr lang="en-US" sz="1200" b="0" kern="1200" baseline="0" dirty="0" err="1" smtClean="0">
                <a:solidFill>
                  <a:schemeClr val="tx1"/>
                </a:solidFill>
                <a:effectLst/>
                <a:latin typeface="+mn-lt"/>
                <a:ea typeface="+mn-ea"/>
                <a:cs typeface="+mn-cs"/>
              </a:rPr>
              <a:t>neighbours</a:t>
            </a:r>
            <a:r>
              <a:rPr lang="en-US" sz="1200" b="0" kern="1200" baseline="0" dirty="0" smtClean="0">
                <a:solidFill>
                  <a:schemeClr val="tx1"/>
                </a:solidFill>
                <a:effectLst/>
                <a:latin typeface="+mn-lt"/>
                <a:ea typeface="+mn-ea"/>
                <a:cs typeface="+mn-cs"/>
              </a:rPr>
              <a:t>” you take (e.g. it finds the, say, 21 most similar entries and predicts the level based on the level of those entries). </a:t>
            </a:r>
          </a:p>
          <a:p>
            <a:pPr marL="171450" indent="-171450">
              <a:buFontTx/>
              <a:buChar char="-"/>
            </a:pPr>
            <a:r>
              <a:rPr lang="en-US" sz="1200" b="0" kern="1200" baseline="0" dirty="0" smtClean="0">
                <a:solidFill>
                  <a:schemeClr val="tx1"/>
                </a:solidFill>
                <a:effectLst/>
                <a:latin typeface="+mn-lt"/>
                <a:ea typeface="+mn-ea"/>
                <a:cs typeface="+mn-cs"/>
              </a:rPr>
              <a:t>Random Forest makes many different decision trees (a decision tree splits data into subsets – if mentions fish go left, if not go right) and predicts output based on most common output of those</a:t>
            </a:r>
          </a:p>
          <a:p>
            <a:pPr marL="171450" indent="-171450">
              <a:buFontTx/>
              <a:buChar char="-"/>
            </a:pPr>
            <a:r>
              <a:rPr lang="en-US" sz="1200" b="0" kern="1200" baseline="0" dirty="0" smtClean="0">
                <a:solidFill>
                  <a:schemeClr val="tx1"/>
                </a:solidFill>
                <a:effectLst/>
                <a:latin typeface="+mn-lt"/>
                <a:ea typeface="+mn-ea"/>
                <a:cs typeface="+mn-cs"/>
              </a:rPr>
              <a:t>XG Boost is more advanced (newer) algorithm based on Random Forest</a:t>
            </a:r>
          </a:p>
          <a:p>
            <a:pPr marL="171450" indent="-171450">
              <a:buFontTx/>
              <a:buChar char="-"/>
            </a:pPr>
            <a:r>
              <a:rPr lang="en-US" sz="1200" b="0" kern="1200" baseline="0" dirty="0" smtClean="0">
                <a:solidFill>
                  <a:schemeClr val="tx1"/>
                </a:solidFill>
                <a:effectLst/>
                <a:latin typeface="+mn-lt"/>
                <a:ea typeface="+mn-ea"/>
                <a:cs typeface="+mn-cs"/>
              </a:rPr>
              <a:t>A Support Vector Machine views each entry as a point on a plane and draws a line to separate points of different levels. The test entry is predicted by placing that point and seeing which side of the line it falls on.</a:t>
            </a:r>
          </a:p>
          <a:p>
            <a:pPr marL="0" indent="0">
              <a:buFontTx/>
              <a:buNone/>
            </a:pPr>
            <a:endParaRPr lang="en-US" dirty="0" smtClean="0"/>
          </a:p>
        </p:txBody>
      </p:sp>
      <p:sp>
        <p:nvSpPr>
          <p:cNvPr id="4" name="Slide Number Placeholder 3"/>
          <p:cNvSpPr>
            <a:spLocks noGrp="1"/>
          </p:cNvSpPr>
          <p:nvPr>
            <p:ph type="sldNum" sz="quarter" idx="10"/>
          </p:nvPr>
        </p:nvSpPr>
        <p:spPr/>
        <p:txBody>
          <a:bodyPr/>
          <a:lstStyle/>
          <a:p>
            <a:fld id="{D51FE13C-0729-468B-8FC8-2C10E2E8F9EA}" type="slidenum">
              <a:rPr lang="en-CA" smtClean="0"/>
              <a:t>16</a:t>
            </a:fld>
            <a:endParaRPr lang="en-CA"/>
          </a:p>
        </p:txBody>
      </p:sp>
    </p:spTree>
    <p:extLst>
      <p:ext uri="{BB962C8B-B14F-4D97-AF65-F5344CB8AC3E}">
        <p14:creationId xmlns:p14="http://schemas.microsoft.com/office/powerpoint/2010/main" val="1017065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26" name="Picture 2" descr="N:\Public Affairs\Communications\PRODUCTION\Social Media and Creative Services\16-056 CFIA Common Look and Feel\Assets\Templates\Supporting Files\Power Point\Images\EN\PPT Master E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17"/>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0" y="6515729"/>
            <a:ext cx="5410200" cy="307777"/>
          </a:xfrm>
          <a:prstGeom prst="rect">
            <a:avLst/>
          </a:prstGeom>
          <a:noFill/>
          <a:ln>
            <a:noFill/>
          </a:ln>
        </p:spPr>
        <p:txBody>
          <a:bodyPr wrap="square" rtlCol="0">
            <a:spAutoFit/>
          </a:bodyPr>
          <a:lstStyle/>
          <a:p>
            <a:r>
              <a:rPr lang="en-CA" sz="700" kern="1200" dirty="0" smtClean="0">
                <a:solidFill>
                  <a:schemeClr val="bg1"/>
                </a:solidFill>
                <a:latin typeface="Arial" panose="020B0604020202020204" pitchFamily="34" charset="0"/>
                <a:ea typeface="+mn-ea"/>
                <a:cs typeface="Arial" panose="020B0604020202020204" pitchFamily="34" charset="0"/>
              </a:rPr>
              <a:t>© 2017 Her Majesty the Queen in Right of Canada </a:t>
            </a:r>
            <a:br>
              <a:rPr lang="en-CA" sz="700" kern="1200" dirty="0" smtClean="0">
                <a:solidFill>
                  <a:schemeClr val="bg1"/>
                </a:solidFill>
                <a:latin typeface="Arial" panose="020B0604020202020204" pitchFamily="34" charset="0"/>
                <a:ea typeface="+mn-ea"/>
                <a:cs typeface="Arial" panose="020B0604020202020204" pitchFamily="34" charset="0"/>
              </a:rPr>
            </a:br>
            <a:r>
              <a:rPr lang="en-CA" sz="700" kern="1200" dirty="0" smtClean="0">
                <a:solidFill>
                  <a:schemeClr val="bg1"/>
                </a:solidFill>
                <a:latin typeface="Arial" panose="020B0604020202020204" pitchFamily="34" charset="0"/>
                <a:ea typeface="+mn-ea"/>
                <a:cs typeface="Arial" panose="020B0604020202020204" pitchFamily="34" charset="0"/>
              </a:rPr>
              <a:t>(Canadian Food Inspection Agency), all rights reserved. Use without permission is prohibited.</a:t>
            </a:r>
            <a:endParaRPr lang="en-CA" sz="700" dirty="0">
              <a:solidFill>
                <a:schemeClr val="bg1"/>
              </a:solidFill>
              <a:latin typeface="Arial" panose="020B0604020202020204" pitchFamily="34" charset="0"/>
              <a:cs typeface="Arial" panose="020B0604020202020204" pitchFamily="34" charset="0"/>
            </a:endParaRPr>
          </a:p>
        </p:txBody>
      </p:sp>
      <p:sp>
        <p:nvSpPr>
          <p:cNvPr id="9" name="Title 1"/>
          <p:cNvSpPr>
            <a:spLocks noGrp="1"/>
          </p:cNvSpPr>
          <p:nvPr>
            <p:ph type="ctrTitle"/>
          </p:nvPr>
        </p:nvSpPr>
        <p:spPr>
          <a:xfrm>
            <a:off x="685800" y="606425"/>
            <a:ext cx="7772400" cy="1470025"/>
          </a:xfrm>
        </p:spPr>
        <p:txBody>
          <a:bodyPr>
            <a:normAutofit/>
          </a:bodyPr>
          <a:lstStyle>
            <a:lvl1pPr algn="r">
              <a:defRPr sz="3600"/>
            </a:lvl1pPr>
          </a:lstStyle>
          <a:p>
            <a:r>
              <a:rPr lang="en-US" smtClean="0"/>
              <a:t>Click to edit Master title style</a:t>
            </a:r>
            <a:endParaRPr lang="en-CA" dirty="0"/>
          </a:p>
        </p:txBody>
      </p:sp>
      <p:sp>
        <p:nvSpPr>
          <p:cNvPr id="10" name="Subtitle 2"/>
          <p:cNvSpPr>
            <a:spLocks noGrp="1"/>
          </p:cNvSpPr>
          <p:nvPr>
            <p:ph type="subTitle" idx="1"/>
          </p:nvPr>
        </p:nvSpPr>
        <p:spPr>
          <a:xfrm>
            <a:off x="2057400" y="1905000"/>
            <a:ext cx="6400800" cy="1752600"/>
          </a:xfrm>
        </p:spPr>
        <p:txBody>
          <a:bodyPr>
            <a:normAutofit/>
          </a:bodyPr>
          <a:lstStyle>
            <a:lvl1pPr marL="0" indent="0" algn="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CA" dirty="0"/>
          </a:p>
        </p:txBody>
      </p:sp>
    </p:spTree>
    <p:extLst>
      <p:ext uri="{BB962C8B-B14F-4D97-AF65-F5344CB8AC3E}">
        <p14:creationId xmlns:p14="http://schemas.microsoft.com/office/powerpoint/2010/main" val="5412628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4" name="Date Placeholder 3"/>
          <p:cNvSpPr>
            <a:spLocks noGrp="1"/>
          </p:cNvSpPr>
          <p:nvPr>
            <p:ph type="dt" sz="half" idx="10"/>
          </p:nvPr>
        </p:nvSpPr>
        <p:spPr/>
        <p:txBody>
          <a:bodyPr/>
          <a:lstStyle/>
          <a:p>
            <a:fld id="{B9ED6323-0754-47AE-8C48-CE688A9C9B69}" type="datetimeFigureOut">
              <a:rPr lang="en-CA" smtClean="0"/>
              <a:t>20/09/2018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37226509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9ED6323-0754-47AE-8C48-CE688A9C9B69}" type="datetimeFigureOut">
              <a:rPr lang="en-CA" smtClean="0"/>
              <a:t>20/09/2018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330672618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p:txBody>
          <a:bodyPr/>
          <a:lstStyle/>
          <a:p>
            <a:fld id="{B9ED6323-0754-47AE-8C48-CE688A9C9B69}" type="datetimeFigureOut">
              <a:rPr lang="en-CA" smtClean="0"/>
              <a:t>20/09/2018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3788721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p:txBody>
          <a:bodyPr/>
          <a:lstStyle/>
          <a:p>
            <a:fld id="{B9ED6323-0754-47AE-8C48-CE688A9C9B69}" type="datetimeFigureOut">
              <a:rPr lang="en-CA" smtClean="0"/>
              <a:t>20/09/2018</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4294456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B9ED6323-0754-47AE-8C48-CE688A9C9B69}" type="datetimeFigureOut">
              <a:rPr lang="en-CA" smtClean="0"/>
              <a:t>20/09/2018</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178754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ED6323-0754-47AE-8C48-CE688A9C9B69}" type="datetimeFigureOut">
              <a:rPr lang="en-CA" smtClean="0"/>
              <a:t>20/09/2018</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1930428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ED6323-0754-47AE-8C48-CE688A9C9B69}" type="datetimeFigureOut">
              <a:rPr lang="en-CA" smtClean="0"/>
              <a:t>20/09/2018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96252808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C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ED6323-0754-47AE-8C48-CE688A9C9B69}" type="datetimeFigureOut">
              <a:rPr lang="en-CA" smtClean="0"/>
              <a:t>20/09/2018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207217337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B9ED6323-0754-47AE-8C48-CE688A9C9B69}" type="datetimeFigureOut">
              <a:rPr lang="en-CA" smtClean="0"/>
              <a:t>20/09/2018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1499448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B9ED6323-0754-47AE-8C48-CE688A9C9B69}" type="datetimeFigureOut">
              <a:rPr lang="en-CA" smtClean="0"/>
              <a:t>20/09/2018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E439556-9EB1-4B60-B72A-BF89D803F04C}" type="slidenum">
              <a:rPr lang="en-CA" smtClean="0"/>
              <a:t>‹#›</a:t>
            </a:fld>
            <a:endParaRPr lang="en-CA"/>
          </a:p>
        </p:txBody>
      </p:sp>
    </p:spTree>
    <p:extLst>
      <p:ext uri="{BB962C8B-B14F-4D97-AF65-F5344CB8AC3E}">
        <p14:creationId xmlns:p14="http://schemas.microsoft.com/office/powerpoint/2010/main" val="320733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CA"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dirty="0"/>
          </a:p>
        </p:txBody>
      </p:sp>
      <p:sp>
        <p:nvSpPr>
          <p:cNvPr id="4" name="Date Placeholder 3"/>
          <p:cNvSpPr>
            <a:spLocks noGrp="1"/>
          </p:cNvSpPr>
          <p:nvPr>
            <p:ph type="dt" sz="half" idx="2"/>
          </p:nvPr>
        </p:nvSpPr>
        <p:spPr>
          <a:xfrm>
            <a:off x="457200" y="571500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9ED6323-0754-47AE-8C48-CE688A9C9B69}" type="datetimeFigureOut">
              <a:rPr lang="en-CA" smtClean="0"/>
              <a:t>20/09/2018</a:t>
            </a:fld>
            <a:endParaRPr lang="en-CA"/>
          </a:p>
        </p:txBody>
      </p:sp>
      <p:sp>
        <p:nvSpPr>
          <p:cNvPr id="5" name="Footer Placeholder 4"/>
          <p:cNvSpPr>
            <a:spLocks noGrp="1"/>
          </p:cNvSpPr>
          <p:nvPr>
            <p:ph type="ftr" sz="quarter" idx="3"/>
          </p:nvPr>
        </p:nvSpPr>
        <p:spPr>
          <a:xfrm>
            <a:off x="3124200" y="571500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CA"/>
          </a:p>
        </p:txBody>
      </p:sp>
      <p:sp>
        <p:nvSpPr>
          <p:cNvPr id="6" name="Slide Number Placeholder 5"/>
          <p:cNvSpPr>
            <a:spLocks noGrp="1"/>
          </p:cNvSpPr>
          <p:nvPr>
            <p:ph type="sldNum" sz="quarter" idx="4"/>
          </p:nvPr>
        </p:nvSpPr>
        <p:spPr>
          <a:xfrm>
            <a:off x="6553200" y="571500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3E439556-9EB1-4B60-B72A-BF89D803F04C}" type="slidenum">
              <a:rPr lang="en-CA" smtClean="0"/>
              <a:t>‹#›</a:t>
            </a:fld>
            <a:endParaRPr lang="en-CA"/>
          </a:p>
        </p:txBody>
      </p:sp>
    </p:spTree>
    <p:extLst>
      <p:ext uri="{BB962C8B-B14F-4D97-AF65-F5344CB8AC3E}">
        <p14:creationId xmlns:p14="http://schemas.microsoft.com/office/powerpoint/2010/main" val="399110302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rgbClr val="05486C"/>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Text </a:t>
            </a:r>
            <a:r>
              <a:rPr lang="en-US" dirty="0" err="1" smtClean="0"/>
              <a:t>Analytics:AskCFIA</a:t>
            </a:r>
            <a:r>
              <a:rPr lang="en-US" dirty="0" smtClean="0"/>
              <a:t> </a:t>
            </a:r>
            <a:endParaRPr lang="en-CA" dirty="0"/>
          </a:p>
        </p:txBody>
      </p:sp>
      <p:sp>
        <p:nvSpPr>
          <p:cNvPr id="3" name="Subtitle 2"/>
          <p:cNvSpPr>
            <a:spLocks noGrp="1"/>
          </p:cNvSpPr>
          <p:nvPr>
            <p:ph type="subTitle" idx="1"/>
          </p:nvPr>
        </p:nvSpPr>
        <p:spPr>
          <a:xfrm>
            <a:off x="2057400" y="1600200"/>
            <a:ext cx="6400800" cy="1752600"/>
          </a:xfrm>
        </p:spPr>
        <p:txBody>
          <a:bodyPr/>
          <a:lstStyle/>
          <a:p>
            <a:r>
              <a:rPr lang="en-US" dirty="0" smtClean="0"/>
              <a:t>September 2018</a:t>
            </a:r>
            <a:endParaRPr lang="en-US" dirty="0"/>
          </a:p>
          <a:p>
            <a:endParaRPr lang="en-CA" dirty="0"/>
          </a:p>
        </p:txBody>
      </p:sp>
      <p:sp>
        <p:nvSpPr>
          <p:cNvPr id="4" name="Subtitle 2"/>
          <p:cNvSpPr txBox="1">
            <a:spLocks/>
          </p:cNvSpPr>
          <p:nvPr/>
        </p:nvSpPr>
        <p:spPr>
          <a:xfrm>
            <a:off x="6629400" y="5405252"/>
            <a:ext cx="2286000" cy="1066800"/>
          </a:xfrm>
          <a:prstGeom prst="rect">
            <a:avLst/>
          </a:prstGeom>
        </p:spPr>
        <p:txBody>
          <a:bodyPr vert="horz" lIns="91440" tIns="45720" rIns="91440" bIns="45720" rtlCol="0">
            <a:normAutofit/>
          </a:bodyPr>
          <a:lstStyle>
            <a:lvl1pPr marL="0" indent="0" algn="l" defTabSz="914400" rtl="0" eaLnBrk="1" latinLnBrk="0" hangingPunct="1">
              <a:spcBef>
                <a:spcPct val="20000"/>
              </a:spcBef>
              <a:buClr>
                <a:schemeClr val="accent1"/>
              </a:buClr>
              <a:buSzPct val="85000"/>
              <a:buFont typeface="Arial" pitchFamily="34" charset="0"/>
              <a:buNone/>
              <a:defRPr sz="2400" kern="1200">
                <a:solidFill>
                  <a:schemeClr val="tx1">
                    <a:lumMod val="75000"/>
                    <a:lumOff val="25000"/>
                  </a:schemeClr>
                </a:solidFill>
                <a:latin typeface="+mn-lt"/>
                <a:ea typeface="+mn-ea"/>
                <a:cs typeface="+mn-cs"/>
              </a:defRPr>
            </a:lvl1pPr>
            <a:lvl2pPr marL="457200" indent="0" algn="ctr" defTabSz="914400" rtl="0" eaLnBrk="1" latinLnBrk="0" hangingPunct="1">
              <a:spcBef>
                <a:spcPct val="20000"/>
              </a:spcBef>
              <a:buClr>
                <a:schemeClr val="accent1"/>
              </a:buClr>
              <a:buSzPct val="85000"/>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90000"/>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100000"/>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9pPr>
          </a:lstStyle>
          <a:p>
            <a:endParaRPr lang="en-CA" dirty="0"/>
          </a:p>
        </p:txBody>
      </p:sp>
    </p:spTree>
    <p:extLst>
      <p:ext uri="{BB962C8B-B14F-4D97-AF65-F5344CB8AC3E}">
        <p14:creationId xmlns:p14="http://schemas.microsoft.com/office/powerpoint/2010/main" val="1534852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a:t>
            </a:r>
            <a:endParaRPr lang="en-CA" dirty="0"/>
          </a:p>
        </p:txBody>
      </p:sp>
      <p:sp>
        <p:nvSpPr>
          <p:cNvPr id="3" name="Content Placeholder 2"/>
          <p:cNvSpPr>
            <a:spLocks noGrp="1"/>
          </p:cNvSpPr>
          <p:nvPr>
            <p:ph idx="1"/>
          </p:nvPr>
        </p:nvSpPr>
        <p:spPr/>
        <p:txBody>
          <a:bodyPr>
            <a:normAutofit/>
          </a:bodyPr>
          <a:lstStyle/>
          <a:p>
            <a:r>
              <a:rPr lang="en-US" dirty="0" err="1" smtClean="0"/>
              <a:t>AskCFIA</a:t>
            </a:r>
            <a:r>
              <a:rPr lang="en-US" dirty="0" smtClean="0"/>
              <a:t> is one point of entry for industry to ask questions about regulatory requirements</a:t>
            </a:r>
          </a:p>
          <a:p>
            <a:r>
              <a:rPr lang="en-US" dirty="0" smtClean="0"/>
              <a:t>Questions come in through the website in natural language (i.e. English or French)</a:t>
            </a:r>
          </a:p>
        </p:txBody>
      </p:sp>
    </p:spTree>
    <p:extLst>
      <p:ext uri="{BB962C8B-B14F-4D97-AF65-F5344CB8AC3E}">
        <p14:creationId xmlns:p14="http://schemas.microsoft.com/office/powerpoint/2010/main" val="40576309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a:t>
            </a:r>
            <a:endParaRPr lang="en-CA" dirty="0"/>
          </a:p>
        </p:txBody>
      </p:sp>
      <p:sp>
        <p:nvSpPr>
          <p:cNvPr id="3" name="Content Placeholder 2"/>
          <p:cNvSpPr>
            <a:spLocks noGrp="1"/>
          </p:cNvSpPr>
          <p:nvPr>
            <p:ph idx="1"/>
          </p:nvPr>
        </p:nvSpPr>
        <p:spPr>
          <a:xfrm>
            <a:off x="304800" y="1447800"/>
            <a:ext cx="8763000" cy="4572000"/>
          </a:xfrm>
        </p:spPr>
        <p:txBody>
          <a:bodyPr>
            <a:normAutofit/>
          </a:bodyPr>
          <a:lstStyle/>
          <a:p>
            <a:r>
              <a:rPr lang="en-US" dirty="0"/>
              <a:t>Questions </a:t>
            </a:r>
            <a:r>
              <a:rPr lang="en-US" dirty="0" smtClean="0"/>
              <a:t>are </a:t>
            </a:r>
            <a:r>
              <a:rPr lang="en-US" dirty="0"/>
              <a:t>triaged </a:t>
            </a:r>
            <a:r>
              <a:rPr lang="en-US" dirty="0" smtClean="0"/>
              <a:t>manually into </a:t>
            </a:r>
            <a:r>
              <a:rPr lang="en-US" dirty="0"/>
              <a:t>three different </a:t>
            </a:r>
            <a:r>
              <a:rPr lang="en-US" dirty="0" smtClean="0"/>
              <a:t>levels, before they are answered:</a:t>
            </a:r>
            <a:endParaRPr lang="en-US" dirty="0"/>
          </a:p>
          <a:p>
            <a:pPr marL="0" indent="0">
              <a:buNone/>
            </a:pPr>
            <a:r>
              <a:rPr lang="en-US" sz="2800" dirty="0" smtClean="0"/>
              <a:t> - Level </a:t>
            </a:r>
            <a:r>
              <a:rPr lang="en-US" sz="2800" dirty="0"/>
              <a:t>1 questions can be answered by reading information on the CFIA website</a:t>
            </a:r>
          </a:p>
          <a:p>
            <a:pPr marL="0" indent="0">
              <a:buNone/>
            </a:pPr>
            <a:r>
              <a:rPr lang="en-US" sz="2800" dirty="0" smtClean="0"/>
              <a:t>- Level </a:t>
            </a:r>
            <a:r>
              <a:rPr lang="en-US" sz="2800" dirty="0"/>
              <a:t>2 questions are more complex - information is in </a:t>
            </a:r>
            <a:r>
              <a:rPr lang="en-US" sz="2800" dirty="0" smtClean="0"/>
              <a:t>(multiple) technical documents</a:t>
            </a:r>
            <a:endParaRPr lang="en-US" sz="2800" dirty="0"/>
          </a:p>
          <a:p>
            <a:pPr marL="0" indent="0">
              <a:buNone/>
            </a:pPr>
            <a:r>
              <a:rPr lang="en-US" sz="2800" dirty="0" smtClean="0"/>
              <a:t>- Level </a:t>
            </a:r>
            <a:r>
              <a:rPr lang="en-US" sz="2800" dirty="0"/>
              <a:t>3 questions require specialized consultation</a:t>
            </a:r>
          </a:p>
          <a:p>
            <a:endParaRPr lang="en-CA" dirty="0"/>
          </a:p>
        </p:txBody>
      </p:sp>
    </p:spTree>
    <p:extLst>
      <p:ext uri="{BB962C8B-B14F-4D97-AF65-F5344CB8AC3E}">
        <p14:creationId xmlns:p14="http://schemas.microsoft.com/office/powerpoint/2010/main" val="19002023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Questions</a:t>
            </a:r>
            <a:endParaRPr lang="en-CA" dirty="0"/>
          </a:p>
        </p:txBody>
      </p:sp>
      <p:sp>
        <p:nvSpPr>
          <p:cNvPr id="3" name="Content Placeholder 2"/>
          <p:cNvSpPr>
            <a:spLocks noGrp="1"/>
          </p:cNvSpPr>
          <p:nvPr>
            <p:ph idx="1"/>
          </p:nvPr>
        </p:nvSpPr>
        <p:spPr>
          <a:xfrm>
            <a:off x="457200" y="1371600"/>
            <a:ext cx="8229600" cy="4525963"/>
          </a:xfrm>
        </p:spPr>
        <p:txBody>
          <a:bodyPr>
            <a:normAutofit/>
          </a:bodyPr>
          <a:lstStyle/>
          <a:p>
            <a:pPr marL="0" indent="0">
              <a:buNone/>
            </a:pPr>
            <a:r>
              <a:rPr lang="en-US" dirty="0" smtClean="0"/>
              <a:t>1. Can we leverage techniques in text analytics and artificial intelligence to uncover useful business insights in regulatory communication?</a:t>
            </a:r>
          </a:p>
          <a:p>
            <a:pPr marL="0" indent="0">
              <a:buNone/>
            </a:pPr>
            <a:r>
              <a:rPr lang="en-US" dirty="0" smtClean="0"/>
              <a:t>2. Possible to develop a tool to predict/classify question levels automatically to expedite the triaging and allow for the generation of automated answers?</a:t>
            </a:r>
          </a:p>
          <a:p>
            <a:pPr marL="0" indent="0">
              <a:buNone/>
            </a:pPr>
            <a:endParaRPr lang="en-US" dirty="0" smtClean="0"/>
          </a:p>
        </p:txBody>
      </p:sp>
    </p:spTree>
    <p:extLst>
      <p:ext uri="{BB962C8B-B14F-4D97-AF65-F5344CB8AC3E}">
        <p14:creationId xmlns:p14="http://schemas.microsoft.com/office/powerpoint/2010/main" val="21364643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CA"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600" y="1676400"/>
            <a:ext cx="8736055" cy="3557712"/>
          </a:xfrm>
        </p:spPr>
      </p:pic>
    </p:spTree>
    <p:extLst>
      <p:ext uri="{BB962C8B-B14F-4D97-AF65-F5344CB8AC3E}">
        <p14:creationId xmlns:p14="http://schemas.microsoft.com/office/powerpoint/2010/main" val="2219614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4661" t="6326" r="11245" b="12064"/>
          <a:stretch/>
        </p:blipFill>
        <p:spPr>
          <a:xfrm>
            <a:off x="1981200" y="838200"/>
            <a:ext cx="5334000" cy="5045964"/>
          </a:xfrm>
        </p:spPr>
      </p:pic>
      <p:sp>
        <p:nvSpPr>
          <p:cNvPr id="2" name="Title 1"/>
          <p:cNvSpPr>
            <a:spLocks noGrp="1"/>
          </p:cNvSpPr>
          <p:nvPr>
            <p:ph type="title"/>
          </p:nvPr>
        </p:nvSpPr>
        <p:spPr/>
        <p:txBody>
          <a:bodyPr/>
          <a:lstStyle/>
          <a:p>
            <a:r>
              <a:rPr lang="en-US" dirty="0" smtClean="0"/>
              <a:t>Full Data Set</a:t>
            </a:r>
            <a:endParaRPr lang="en-CA" dirty="0"/>
          </a:p>
        </p:txBody>
      </p:sp>
      <p:sp>
        <p:nvSpPr>
          <p:cNvPr id="6" name="TextBox 5"/>
          <p:cNvSpPr txBox="1"/>
          <p:nvPr/>
        </p:nvSpPr>
        <p:spPr>
          <a:xfrm>
            <a:off x="304800" y="1752600"/>
            <a:ext cx="2209800" cy="646331"/>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Word Cloud for All English Questions</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76117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 1 Questions</a:t>
            </a:r>
            <a:endParaRPr lang="en-CA" dirty="0"/>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24219" t="26653" r="19342" b="24954"/>
          <a:stretch/>
        </p:blipFill>
        <p:spPr>
          <a:xfrm>
            <a:off x="1981200" y="1143000"/>
            <a:ext cx="5334000" cy="4458268"/>
          </a:xfrm>
        </p:spPr>
      </p:pic>
      <p:sp>
        <p:nvSpPr>
          <p:cNvPr id="5" name="TextBox 4"/>
          <p:cNvSpPr txBox="1"/>
          <p:nvPr/>
        </p:nvSpPr>
        <p:spPr>
          <a:xfrm>
            <a:off x="304800" y="1752600"/>
            <a:ext cx="2209800" cy="923330"/>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Word Cloud for Level 1 English Questions</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73859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18351" t="19061" r="14830" b="20516"/>
          <a:stretch/>
        </p:blipFill>
        <p:spPr>
          <a:xfrm>
            <a:off x="2362200" y="1219200"/>
            <a:ext cx="5181600" cy="4567530"/>
          </a:xfrm>
        </p:spPr>
      </p:pic>
      <p:sp>
        <p:nvSpPr>
          <p:cNvPr id="2" name="Title 1"/>
          <p:cNvSpPr>
            <a:spLocks noGrp="1"/>
          </p:cNvSpPr>
          <p:nvPr>
            <p:ph type="title"/>
          </p:nvPr>
        </p:nvSpPr>
        <p:spPr/>
        <p:txBody>
          <a:bodyPr/>
          <a:lstStyle/>
          <a:p>
            <a:r>
              <a:rPr lang="en-US" dirty="0" smtClean="0"/>
              <a:t>Level 2 Questions</a:t>
            </a:r>
            <a:endParaRPr lang="en-CA" dirty="0"/>
          </a:p>
        </p:txBody>
      </p:sp>
      <p:sp>
        <p:nvSpPr>
          <p:cNvPr id="6" name="TextBox 5"/>
          <p:cNvSpPr txBox="1"/>
          <p:nvPr/>
        </p:nvSpPr>
        <p:spPr>
          <a:xfrm>
            <a:off x="304800" y="1752600"/>
            <a:ext cx="2209800" cy="923330"/>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Word Cloud for Level 2 English Questions</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00999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 3 Questions</a:t>
            </a:r>
            <a:endParaRPr lang="en-CA" dirty="0"/>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18886" t="24449" r="15780" b="24903"/>
          <a:stretch/>
        </p:blipFill>
        <p:spPr>
          <a:xfrm>
            <a:off x="2362200" y="1447800"/>
            <a:ext cx="4999512" cy="4013861"/>
          </a:xfrm>
        </p:spPr>
      </p:pic>
      <p:sp>
        <p:nvSpPr>
          <p:cNvPr id="6" name="TextBox 5"/>
          <p:cNvSpPr txBox="1"/>
          <p:nvPr/>
        </p:nvSpPr>
        <p:spPr>
          <a:xfrm>
            <a:off x="304800" y="1752600"/>
            <a:ext cx="2209800" cy="923330"/>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Word Cloud for Level 3 English Questions</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5377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Breakdown by Commodities</a:t>
            </a:r>
            <a:endParaRPr lang="en-CA"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667" y="1752600"/>
            <a:ext cx="2695230" cy="3074944"/>
          </a:xfrm>
          <a:prstGeom prst="rect">
            <a:avLst/>
          </a:prstGeom>
        </p:spPr>
      </p:pic>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937947" y="1752600"/>
            <a:ext cx="2785144" cy="3177305"/>
          </a:xfrm>
          <a:prstGeom prst="rect">
            <a:avLst/>
          </a:prstGeom>
        </p:spPr>
      </p:pic>
      <p:pic>
        <p:nvPicPr>
          <p:cNvPr id="5" name="Content Placeholder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38800" y="1762125"/>
            <a:ext cx="2743200" cy="3129674"/>
          </a:xfrm>
          <a:prstGeom prst="rect">
            <a:avLst/>
          </a:prstGeom>
        </p:spPr>
      </p:pic>
    </p:spTree>
    <p:extLst>
      <p:ext uri="{BB962C8B-B14F-4D97-AF65-F5344CB8AC3E}">
        <p14:creationId xmlns:p14="http://schemas.microsoft.com/office/powerpoint/2010/main" val="35833337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Word Count by Level</a:t>
            </a:r>
            <a:endParaRPr lang="en-CA"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14600" y="1371600"/>
            <a:ext cx="3967066" cy="4525963"/>
          </a:xfrm>
        </p:spPr>
      </p:pic>
    </p:spTree>
    <p:extLst>
      <p:ext uri="{BB962C8B-B14F-4D97-AF65-F5344CB8AC3E}">
        <p14:creationId xmlns:p14="http://schemas.microsoft.com/office/powerpoint/2010/main" val="25940787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33600" y="978446"/>
            <a:ext cx="4876800" cy="5117554"/>
          </a:xfrm>
        </p:spPr>
      </p:pic>
      <p:sp>
        <p:nvSpPr>
          <p:cNvPr id="2" name="Title 1"/>
          <p:cNvSpPr>
            <a:spLocks noGrp="1"/>
          </p:cNvSpPr>
          <p:nvPr>
            <p:ph type="title"/>
          </p:nvPr>
        </p:nvSpPr>
        <p:spPr>
          <a:xfrm>
            <a:off x="533400" y="19792"/>
            <a:ext cx="8229600" cy="1143000"/>
          </a:xfrm>
        </p:spPr>
        <p:txBody>
          <a:bodyPr>
            <a:normAutofit/>
          </a:bodyPr>
          <a:lstStyle/>
          <a:p>
            <a:r>
              <a:rPr lang="en-US" dirty="0" smtClean="0"/>
              <a:t>Level Count by Month</a:t>
            </a:r>
            <a:endParaRPr lang="en-CA" dirty="0"/>
          </a:p>
        </p:txBody>
      </p:sp>
    </p:spTree>
    <p:extLst>
      <p:ext uri="{BB962C8B-B14F-4D97-AF65-F5344CB8AC3E}">
        <p14:creationId xmlns:p14="http://schemas.microsoft.com/office/powerpoint/2010/main" val="21625875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Question Origin Breakdown</a:t>
            </a:r>
            <a:endParaRPr lang="en-CA" dirty="0"/>
          </a:p>
        </p:txBody>
      </p:sp>
      <p:pic>
        <p:nvPicPr>
          <p:cNvPr id="6" name="Content Placeholder 5"/>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0" y="1676400"/>
            <a:ext cx="4038600" cy="4143589"/>
          </a:xfrm>
        </p:spPr>
      </p:pic>
      <p:pic>
        <p:nvPicPr>
          <p:cNvPr id="7" name="Content Placeholder 6"/>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4343400" y="1676400"/>
            <a:ext cx="4038600" cy="4143589"/>
          </a:xfr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2990850"/>
            <a:ext cx="1022057" cy="1351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635529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of Reading Level</a:t>
            </a:r>
            <a:endParaRPr lang="en-CA" dirty="0"/>
          </a:p>
        </p:txBody>
      </p:sp>
      <p:sp>
        <p:nvSpPr>
          <p:cNvPr id="3" name="Content Placeholder 2"/>
          <p:cNvSpPr>
            <a:spLocks noGrp="1"/>
          </p:cNvSpPr>
          <p:nvPr>
            <p:ph idx="1"/>
          </p:nvPr>
        </p:nvSpPr>
        <p:spPr>
          <a:xfrm>
            <a:off x="457200" y="1371600"/>
            <a:ext cx="8229600" cy="4754563"/>
          </a:xfrm>
        </p:spPr>
        <p:txBody>
          <a:bodyPr>
            <a:normAutofit lnSpcReduction="10000"/>
          </a:bodyPr>
          <a:lstStyle/>
          <a:p>
            <a:r>
              <a:rPr lang="en-US" dirty="0" smtClean="0"/>
              <a:t>The reading level of the </a:t>
            </a:r>
            <a:r>
              <a:rPr lang="en-US" dirty="0" err="1" smtClean="0"/>
              <a:t>AskCFIA</a:t>
            </a:r>
            <a:r>
              <a:rPr lang="en-US" dirty="0" smtClean="0"/>
              <a:t> </a:t>
            </a:r>
            <a:r>
              <a:rPr lang="en-US" dirty="0" smtClean="0"/>
              <a:t>webpages:</a:t>
            </a:r>
            <a:endParaRPr lang="en-US" dirty="0" smtClean="0"/>
          </a:p>
          <a:p>
            <a:pPr lvl="1"/>
            <a:r>
              <a:rPr lang="en-US" dirty="0"/>
              <a:t>Main web page results:</a:t>
            </a:r>
          </a:p>
          <a:p>
            <a:pPr lvl="2"/>
            <a:r>
              <a:rPr lang="en-US" dirty="0"/>
              <a:t>Flesch-Kincaid Grade Level: 10.3</a:t>
            </a:r>
          </a:p>
          <a:p>
            <a:pPr lvl="2"/>
            <a:r>
              <a:rPr lang="en-US" dirty="0"/>
              <a:t>Gunning Fog Score: 11.5</a:t>
            </a:r>
          </a:p>
          <a:p>
            <a:pPr lvl="2"/>
            <a:r>
              <a:rPr lang="en-US" dirty="0"/>
              <a:t>Coleman </a:t>
            </a:r>
            <a:r>
              <a:rPr lang="en-US" dirty="0" err="1"/>
              <a:t>Liau</a:t>
            </a:r>
            <a:r>
              <a:rPr lang="en-US" dirty="0"/>
              <a:t> Index: </a:t>
            </a:r>
            <a:r>
              <a:rPr lang="en-US" dirty="0" smtClean="0"/>
              <a:t>15.2</a:t>
            </a:r>
          </a:p>
          <a:p>
            <a:pPr lvl="1"/>
            <a:r>
              <a:rPr lang="en-US" dirty="0" smtClean="0"/>
              <a:t>Approximately 11</a:t>
            </a:r>
            <a:r>
              <a:rPr lang="en-US" baseline="30000" dirty="0" smtClean="0"/>
              <a:t>th</a:t>
            </a:r>
            <a:r>
              <a:rPr lang="en-US" dirty="0" smtClean="0"/>
              <a:t> grade reading level, goal is 8</a:t>
            </a:r>
            <a:r>
              <a:rPr lang="en-US" baseline="30000" dirty="0" smtClean="0"/>
              <a:t>th</a:t>
            </a:r>
            <a:r>
              <a:rPr lang="en-US" dirty="0" smtClean="0"/>
              <a:t> grade. </a:t>
            </a:r>
          </a:p>
          <a:p>
            <a:pPr lvl="1"/>
            <a:r>
              <a:rPr lang="en-US" dirty="0" smtClean="0"/>
              <a:t>Decreasing reading level could help reduce number of Level 1 questions received.</a:t>
            </a:r>
          </a:p>
        </p:txBody>
      </p:sp>
    </p:spTree>
    <p:extLst>
      <p:ext uri="{BB962C8B-B14F-4D97-AF65-F5344CB8AC3E}">
        <p14:creationId xmlns:p14="http://schemas.microsoft.com/office/powerpoint/2010/main" val="2262757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of Reading Level</a:t>
            </a:r>
            <a:endParaRPr lang="en-CA" dirty="0"/>
          </a:p>
        </p:txBody>
      </p:sp>
      <p:sp>
        <p:nvSpPr>
          <p:cNvPr id="3" name="Content Placeholder 2"/>
          <p:cNvSpPr>
            <a:spLocks noGrp="1"/>
          </p:cNvSpPr>
          <p:nvPr>
            <p:ph idx="1"/>
          </p:nvPr>
        </p:nvSpPr>
        <p:spPr>
          <a:xfrm>
            <a:off x="457200" y="1371600"/>
            <a:ext cx="8229600" cy="4754563"/>
          </a:xfrm>
        </p:spPr>
        <p:txBody>
          <a:bodyPr>
            <a:normAutofit/>
          </a:bodyPr>
          <a:lstStyle/>
          <a:p>
            <a:r>
              <a:rPr lang="en-US" dirty="0" smtClean="0"/>
              <a:t>The reading level of the </a:t>
            </a:r>
            <a:r>
              <a:rPr lang="en-US" dirty="0" err="1" smtClean="0"/>
              <a:t>AskCFIA</a:t>
            </a:r>
            <a:r>
              <a:rPr lang="en-US" dirty="0" smtClean="0"/>
              <a:t> </a:t>
            </a:r>
            <a:r>
              <a:rPr lang="en-US" dirty="0" smtClean="0"/>
              <a:t>answers:</a:t>
            </a:r>
            <a:endParaRPr lang="en-US" dirty="0" smtClean="0"/>
          </a:p>
          <a:p>
            <a:pPr lvl="1"/>
            <a:r>
              <a:rPr lang="en-US" dirty="0" smtClean="0"/>
              <a:t>Responses analyzed (July 2016 – May 2018):</a:t>
            </a:r>
            <a:endParaRPr lang="en-US" dirty="0"/>
          </a:p>
          <a:p>
            <a:pPr lvl="2"/>
            <a:r>
              <a:rPr lang="en-US" dirty="0"/>
              <a:t>Flesch-Kincaid Grade Level: </a:t>
            </a:r>
            <a:r>
              <a:rPr lang="en-US" dirty="0" smtClean="0"/>
              <a:t>15.7</a:t>
            </a:r>
            <a:endParaRPr lang="en-US" dirty="0"/>
          </a:p>
          <a:p>
            <a:pPr lvl="2"/>
            <a:r>
              <a:rPr lang="en-US" dirty="0"/>
              <a:t>Gunning Fog Score: </a:t>
            </a:r>
            <a:r>
              <a:rPr lang="en-US" dirty="0" smtClean="0"/>
              <a:t>20.0</a:t>
            </a:r>
            <a:endParaRPr lang="en-US" dirty="0"/>
          </a:p>
          <a:p>
            <a:pPr lvl="2"/>
            <a:r>
              <a:rPr lang="en-US" dirty="0"/>
              <a:t>Coleman </a:t>
            </a:r>
            <a:r>
              <a:rPr lang="en-US" dirty="0" err="1"/>
              <a:t>Liau</a:t>
            </a:r>
            <a:r>
              <a:rPr lang="en-US" dirty="0"/>
              <a:t> Index: </a:t>
            </a:r>
            <a:r>
              <a:rPr lang="en-US" dirty="0" smtClean="0"/>
              <a:t>13.82</a:t>
            </a:r>
          </a:p>
          <a:p>
            <a:pPr lvl="1"/>
            <a:r>
              <a:rPr lang="en-US" dirty="0" smtClean="0"/>
              <a:t>Responses are at a “university” reading level.</a:t>
            </a:r>
          </a:p>
          <a:p>
            <a:pPr lvl="1"/>
            <a:r>
              <a:rPr lang="en-US" dirty="0" smtClean="0"/>
              <a:t>Decreasing reading level may reduce number of follow up questions.</a:t>
            </a:r>
          </a:p>
        </p:txBody>
      </p:sp>
    </p:spTree>
    <p:extLst>
      <p:ext uri="{BB962C8B-B14F-4D97-AF65-F5344CB8AC3E}">
        <p14:creationId xmlns:p14="http://schemas.microsoft.com/office/powerpoint/2010/main" val="3214075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Predictive Model</a:t>
            </a:r>
            <a:endParaRPr lang="en-CA" dirty="0"/>
          </a:p>
        </p:txBody>
      </p:sp>
      <p:sp>
        <p:nvSpPr>
          <p:cNvPr id="3" name="Content Placeholder 2"/>
          <p:cNvSpPr>
            <a:spLocks noGrp="1"/>
          </p:cNvSpPr>
          <p:nvPr>
            <p:ph sz="half" idx="1"/>
          </p:nvPr>
        </p:nvSpPr>
        <p:spPr>
          <a:xfrm>
            <a:off x="457200" y="1600201"/>
            <a:ext cx="8001000" cy="4038600"/>
          </a:xfrm>
        </p:spPr>
        <p:txBody>
          <a:bodyPr>
            <a:normAutofit lnSpcReduction="10000"/>
          </a:bodyPr>
          <a:lstStyle/>
          <a:p>
            <a:r>
              <a:rPr lang="en-US" dirty="0" smtClean="0"/>
              <a:t>If a tool can predict Level 1 Qs, then automated response could be generated for these Qs.</a:t>
            </a:r>
          </a:p>
          <a:p>
            <a:r>
              <a:rPr lang="en-US" dirty="0" smtClean="0"/>
              <a:t>27% reduction in number of Qs requiring triaging.</a:t>
            </a:r>
          </a:p>
          <a:p>
            <a:r>
              <a:rPr lang="en-US" dirty="0" smtClean="0"/>
              <a:t>The performance of current model is around 80%  (prediction correct 80% of time).</a:t>
            </a:r>
          </a:p>
          <a:p>
            <a:r>
              <a:rPr lang="en-US" dirty="0" smtClean="0"/>
              <a:t>Further work required to increase the performance prior to deployment.</a:t>
            </a:r>
          </a:p>
        </p:txBody>
      </p:sp>
    </p:spTree>
    <p:extLst>
      <p:ext uri="{BB962C8B-B14F-4D97-AF65-F5344CB8AC3E}">
        <p14:creationId xmlns:p14="http://schemas.microsoft.com/office/powerpoint/2010/main" val="42701424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a:t>
            </a:r>
            <a:endParaRPr lang="en-CA" dirty="0"/>
          </a:p>
        </p:txBody>
      </p:sp>
      <p:sp>
        <p:nvSpPr>
          <p:cNvPr id="3" name="Content Placeholder 2"/>
          <p:cNvSpPr>
            <a:spLocks noGrp="1"/>
          </p:cNvSpPr>
          <p:nvPr>
            <p:ph idx="1"/>
          </p:nvPr>
        </p:nvSpPr>
        <p:spPr/>
        <p:txBody>
          <a:bodyPr/>
          <a:lstStyle/>
          <a:p>
            <a:r>
              <a:rPr lang="en-US" dirty="0" smtClean="0"/>
              <a:t>Anna Gow</a:t>
            </a:r>
          </a:p>
          <a:p>
            <a:pPr lvl="1"/>
            <a:r>
              <a:rPr lang="en-US" dirty="0" smtClean="0"/>
              <a:t>Previous co-op student in Data Analytics and Modelling Team</a:t>
            </a:r>
          </a:p>
          <a:p>
            <a:r>
              <a:rPr lang="en-US" dirty="0" err="1" smtClean="0"/>
              <a:t>AskCFIA</a:t>
            </a:r>
            <a:r>
              <a:rPr lang="en-US" dirty="0" smtClean="0"/>
              <a:t> team</a:t>
            </a:r>
          </a:p>
        </p:txBody>
      </p:sp>
    </p:spTree>
    <p:extLst>
      <p:ext uri="{BB962C8B-B14F-4D97-AF65-F5344CB8AC3E}">
        <p14:creationId xmlns:p14="http://schemas.microsoft.com/office/powerpoint/2010/main" val="2585377754"/>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2797</TotalTime>
  <Words>925</Words>
  <Application>Microsoft Office PowerPoint</Application>
  <PresentationFormat>On-screen Show (4:3)</PresentationFormat>
  <Paragraphs>89</Paragraphs>
  <Slides>17</Slides>
  <Notes>14</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Theme1</vt:lpstr>
      <vt:lpstr>Text Analytics:AskCFIA </vt:lpstr>
      <vt:lpstr>Background</vt:lpstr>
      <vt:lpstr>Background</vt:lpstr>
      <vt:lpstr>Project Questions</vt:lpstr>
      <vt:lpstr>Example(s)</vt:lpstr>
      <vt:lpstr>Full Data Set</vt:lpstr>
      <vt:lpstr>Level 1 Questions</vt:lpstr>
      <vt:lpstr>Level 2 Questions</vt:lpstr>
      <vt:lpstr>Level 3 Questions</vt:lpstr>
      <vt:lpstr> Breakdown by Commodities</vt:lpstr>
      <vt:lpstr>Word Count by Level</vt:lpstr>
      <vt:lpstr>Level Count by Month</vt:lpstr>
      <vt:lpstr>Question Origin Breakdown</vt:lpstr>
      <vt:lpstr>Analysis of Reading Level</vt:lpstr>
      <vt:lpstr>Analysis of Reading Level</vt:lpstr>
      <vt:lpstr>Predictive Model</vt:lpstr>
      <vt:lpstr>Acknowledgement</vt:lpstr>
    </vt:vector>
  </TitlesOfParts>
  <Company>AAFC-AAC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Analytics</dc:title>
  <dc:creator>Anna Gow</dc:creator>
  <cp:lastModifiedBy>Ryu Jae Jin</cp:lastModifiedBy>
  <cp:revision>275</cp:revision>
  <cp:lastPrinted>2018-07-31T14:43:13Z</cp:lastPrinted>
  <dcterms:created xsi:type="dcterms:W3CDTF">2018-05-15T17:33:53Z</dcterms:created>
  <dcterms:modified xsi:type="dcterms:W3CDTF">2018-09-20T11:40:32Z</dcterms:modified>
</cp:coreProperties>
</file>